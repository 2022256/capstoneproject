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(NTPF)</c:v>
                </c:pt>
              </c:strCache>
            </c:strRef>
          </c:tx>
          <c:spPr>
            <a:ln w="25400" cap="flat">
              <a:solidFill>
                <a:srgbClr val="1A5F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F9E"/>
              </a:solidFill>
              <a:ln w="9525" cap="flat">
                <a:solidFill>
                  <a:srgbClr val="1A5F9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Jul'21</c:v>
                </c:pt>
                <c:pt idx="1">
                  <c:v>Jan'22</c:v>
                </c:pt>
                <c:pt idx="2">
                  <c:v>Jul'22</c:v>
                </c:pt>
                <c:pt idx="3">
                  <c:v>Jan'23</c:v>
                </c:pt>
                <c:pt idx="4">
                  <c:v>Jul'23</c:v>
                </c:pt>
                <c:pt idx="5">
                  <c:v>Jan'24</c:v>
                </c:pt>
                <c:pt idx="6">
                  <c:v>Jul'24</c:v>
                </c:pt>
                <c:pt idx="7">
                  <c:v>Jan'25</c:v>
                </c:pt>
                <c:pt idx="8">
                  <c:v>Jul'25</c:v>
                </c:pt>
                <c:pt idx="9">
                  <c:v>Jan'26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81200</c:v>
                </c:pt>
                <c:pt idx="1">
                  <c:v>79400</c:v>
                </c:pt>
                <c:pt idx="2">
                  <c:v>82500</c:v>
                </c:pt>
                <c:pt idx="3">
                  <c:v>84200</c:v>
                </c:pt>
                <c:pt idx="4">
                  <c:v>84800</c:v>
                </c:pt>
                <c:pt idx="5">
                  <c:v>86200</c:v>
                </c:pt>
                <c:pt idx="6">
                  <c:v>88900</c:v>
                </c:pt>
                <c:pt idx="7">
                  <c:v>87800</c:v>
                </c:pt>
                <c:pt idx="8">
                  <c:v>83400</c:v>
                </c:pt>
                <c:pt idx="9">
                  <c:v>80888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8CA-4B4F-8B1C-EED76861DD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(XGBoost)</c:v>
                </c:pt>
              </c:strCache>
            </c:strRef>
          </c:tx>
          <c:spPr>
            <a:ln w="25400" cap="flat">
              <a:solidFill>
                <a:srgbClr val="D730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73027"/>
              </a:solidFill>
              <a:ln w="9525" cap="flat">
                <a:solidFill>
                  <a:srgbClr val="D7302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Apr'26</c:v>
                </c:pt>
                <c:pt idx="1">
                  <c:v>Jul'26</c:v>
                </c:pt>
                <c:pt idx="2">
                  <c:v>Oct'26</c:v>
                </c:pt>
                <c:pt idx="3">
                  <c:v>Jan'27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82569</c:v>
                </c:pt>
                <c:pt idx="1">
                  <c:v>79852</c:v>
                </c:pt>
                <c:pt idx="2">
                  <c:v>79477</c:v>
                </c:pt>
                <c:pt idx="3">
                  <c:v>79755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8CA-4B4F-8B1C-EED76861D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36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Irish Hospital Demand Forecaster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 Forecast Admissions &amp; Waiting Lists · NTPF Open Data · GDPR Compliant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91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Chistiakov  |  Ivan Popov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College Dublin  ·  Capstone Project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207008"/>
            <a:ext cx="2816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765,848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5819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national total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(IPDC 115K + OP 650K, Mar 2026)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63824" y="1207008"/>
            <a:ext cx="2816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🛏️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0752" y="1216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0752" y="15819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beds per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population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1207008"/>
            <a:ext cx="2816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9984" y="1216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9984" y="15819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MAE (patients)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available CSV subset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62288" y="1207008"/>
            <a:ext cx="2816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72016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29216" y="1216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29216" y="15819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training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2014–2026 (12-year series)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4592" y="2176272"/>
            <a:ext cx="2816352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2176272"/>
            <a:ext cx="54864" cy="431596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" y="2651760"/>
            <a:ext cx="26151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faces a structural healthcare capacity crisis: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~290 beds/100k population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(EU average: 420)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Inpatient occupancy &gt;95%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Psychiatric units at 86–89%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754,000 on waiting lists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(Dec 2025, +20% since 2022)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Sláintecare targets: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 weeks outpatient wait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≤12 weeks inpatient wait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react to crises rather than plan ahead. No systematic forecasting infrastructure exists within HSE.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5193792"/>
            <a:ext cx="2596896" cy="1170432"/>
          </a:xfrm>
          <a:prstGeom prst="rect">
            <a:avLst/>
          </a:prstGeom>
          <a:solidFill>
            <a:srgbClr val="E8F4FB"/>
          </a:solidFill>
          <a:ln w="12700">
            <a:solidFill>
              <a:srgbClr val="B3D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523951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per 1,000 population (2023)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0896" y="5486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44752" y="5513832"/>
            <a:ext cx="514350" cy="12801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7390" y="5486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10896" y="5687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44752" y="5715000"/>
            <a:ext cx="428625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91665" y="5687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0896" y="5888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EU-15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44752" y="5916168"/>
            <a:ext cx="72009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83130" y="58887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0896" y="60899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44752" y="6117336"/>
            <a:ext cx="137160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60899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45536" y="2176272"/>
            <a:ext cx="2816352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45536" y="2176272"/>
            <a:ext cx="54864" cy="43159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73552" y="2679192"/>
            <a:ext cx="566928" cy="6217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278892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31920" y="264718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NTPF CSVs 2014–2026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 months · 709K rows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+ OpenData series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57016" y="3300984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73552" y="3483864"/>
            <a:ext cx="56692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359359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922776" y="3485505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removal · 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· outlier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(&gt;50K threshold)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57016" y="4105656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552" y="4288536"/>
            <a:ext cx="56692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43982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913632" y="42428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· rolling stats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· trend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557016" y="4910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73552" y="5093208"/>
            <a:ext cx="566928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52029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913632" y="503834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(primary)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55264" y="5596128"/>
            <a:ext cx="2596896" cy="786384"/>
          </a:xfrm>
          <a:prstGeom prst="rect">
            <a:avLst/>
          </a:prstGeom>
          <a:solidFill>
            <a:srgbClr val="E8F4FB"/>
          </a:solidFill>
          <a:ln w="12700">
            <a:solidFill>
              <a:srgbClr val="B3D9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56327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 (XGBoost)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291840" y="58521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rolling_3m_mean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517136" y="5870448"/>
            <a:ext cx="926013" cy="914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1437" y="585216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91840" y="598474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17136" y="6003036"/>
            <a:ext cx="5587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91294" y="59847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91840" y="611733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rolling_3m_std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17136" y="6135624"/>
            <a:ext cx="42794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8218" y="611733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91840" y="624992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lag_6m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17136" y="6268212"/>
            <a:ext cx="38039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3463" y="624992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126480" y="2176272"/>
            <a:ext cx="2816352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126480" y="2176272"/>
            <a:ext cx="54864" cy="4315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graphicFrame>
        <p:nvGraphicFramePr>
          <p:cNvPr id="75" name="Chart 0"/>
          <p:cNvGraphicFramePr/>
          <p:nvPr/>
        </p:nvGraphicFramePr>
        <p:xfrm>
          <a:off x="6236208" y="2633472"/>
          <a:ext cx="2596896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" name="Text 73"/>
          <p:cNvSpPr/>
          <p:nvPr/>
        </p:nvSpPr>
        <p:spPr>
          <a:xfrm>
            <a:off x="6254496" y="482803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 — Oct 2025 to Mar 2026</a:t>
            </a:r>
            <a:endParaRPr lang="en-US" sz="9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5065776"/>
          <a:ext cx="2450592" cy="164592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81,896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79,652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+2,244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+1,898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80,943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79,979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80,888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80,578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72,034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−6,266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73,870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−7,154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3,139 patients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8" name="Text 74"/>
          <p:cNvSpPr/>
          <p:nvPr/>
        </p:nvSpPr>
        <p:spPr>
          <a:xfrm>
            <a:off x="6236208" y="6583680"/>
            <a:ext cx="2615184" cy="2743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Feb–Mar drop driven by policy intervention (WTAP 2026) — unpredictable from historical data alone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9107424" y="2176272"/>
            <a:ext cx="2816352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Shape 76"/>
          <p:cNvSpPr/>
          <p:nvPr/>
        </p:nvSpPr>
        <p:spPr>
          <a:xfrm>
            <a:off x="9107424" y="2176272"/>
            <a:ext cx="54864" cy="43159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9235440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 &amp; Full Picture</a:t>
            </a:r>
            <a:endParaRPr lang="en-US" sz="1200" dirty="0"/>
          </a:p>
        </p:txBody>
      </p:sp>
      <p:sp>
        <p:nvSpPr>
          <p:cNvPr id="82" name="Shape 78"/>
          <p:cNvSpPr/>
          <p:nvPr/>
        </p:nvSpPr>
        <p:spPr>
          <a:xfrm>
            <a:off x="9217152" y="2651760"/>
            <a:ext cx="2596896" cy="98755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272016" y="269748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OpenData CSVs are a Partial Extract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9308592" y="2971331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NTPF OpenData CSV files used for training represent only a subset of the complete waiting list. The full NTPF Detailed Reports dashboard (ntpf.ie) shows significantly higher totals:</a:t>
            </a:r>
            <a:endParaRPr lang="en-US" sz="800" dirty="0"/>
          </a:p>
        </p:txBody>
      </p:sp>
      <p:sp>
        <p:nvSpPr>
          <p:cNvPr id="85" name="Text 81"/>
          <p:cNvSpPr/>
          <p:nvPr/>
        </p:nvSpPr>
        <p:spPr>
          <a:xfrm>
            <a:off x="9299448" y="337085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requires direct NTPF API access or manual export from the interactive dashboard.</a:t>
            </a:r>
            <a:endParaRPr lang="en-US" sz="750" dirty="0"/>
          </a:p>
        </p:txBody>
      </p:sp>
      <p:sp>
        <p:nvSpPr>
          <p:cNvPr id="86" name="Text 82"/>
          <p:cNvSpPr/>
          <p:nvPr/>
        </p:nvSpPr>
        <p:spPr>
          <a:xfrm>
            <a:off x="9235440" y="373075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Subset vs Full NTPF Dashboard (Mar 2026)</a:t>
            </a:r>
            <a:endParaRPr lang="en-US" sz="9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17152" y="3968496"/>
          <a:ext cx="2688336" cy="12192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Subset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IPDC (Inpatient/Day Case)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~74–82K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115,216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Outpatient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CSVs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650,632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~80K (partial)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765,848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" name="Text 83"/>
          <p:cNvSpPr/>
          <p:nvPr/>
        </p:nvSpPr>
        <p:spPr>
          <a:xfrm>
            <a:off x="9235440" y="501091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Proves</a:t>
            </a:r>
            <a:endParaRPr lang="en-US" sz="900" dirty="0"/>
          </a:p>
        </p:txBody>
      </p:sp>
      <p:sp>
        <p:nvSpPr>
          <p:cNvPr id="89" name="Text 84"/>
          <p:cNvSpPr/>
          <p:nvPr/>
        </p:nvSpPr>
        <p:spPr>
          <a:xfrm>
            <a:off x="9217152" y="516636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works end-to-end on 12-year series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XGBoost achieves &lt;4% MAE on the CSV series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fully functional and deployable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Methodology scales to full data when available</a:t>
            </a:r>
            <a:endParaRPr lang="en-US" sz="800" dirty="0"/>
          </a:p>
        </p:txBody>
      </p:sp>
      <p:sp>
        <p:nvSpPr>
          <p:cNvPr id="90" name="Shape 85"/>
          <p:cNvSpPr/>
          <p:nvPr/>
        </p:nvSpPr>
        <p:spPr>
          <a:xfrm>
            <a:off x="9217152" y="5687568"/>
            <a:ext cx="2596896" cy="7863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9272016" y="5733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Full Implementation</a:t>
            </a:r>
            <a:endParaRPr lang="en-US" sz="850" dirty="0"/>
          </a:p>
        </p:txBody>
      </p:sp>
      <p:sp>
        <p:nvSpPr>
          <p:cNvPr id="92" name="Text 87"/>
          <p:cNvSpPr/>
          <p:nvPr/>
        </p:nvSpPr>
        <p:spPr>
          <a:xfrm>
            <a:off x="9272016" y="59436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full data export from NTPF API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Retrain on complete IPDC + Outpatient series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 against 765K+ national totals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pilot with one HSE hospital group</a:t>
            </a:r>
            <a:endParaRPr lang="en-US" sz="800" dirty="0"/>
          </a:p>
        </p:txBody>
      </p:sp>
      <p:sp>
        <p:nvSpPr>
          <p:cNvPr id="94" name="Shape 8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95" name="Text 90"/>
          <p:cNvSpPr/>
          <p:nvPr/>
        </p:nvSpPr>
        <p:spPr>
          <a:xfrm>
            <a:off x="182880" y="6611112"/>
            <a:ext cx="1179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College Dublin  ·  Strategic Business IT — Capstone Project  ·  Andrei Chistiakov &amp; Ivan Popov  ·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527</Words>
  <Application>Microsoft Office PowerPoint</Application>
  <PresentationFormat>Widescreen</PresentationFormat>
  <Paragraphs>133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Irish Hospital Demand Forecaster — Academic Poster</dc:title>
  <dc:subject>PptxGenJS Presentation</dc:subject>
  <dc:creator>PptxGenJS</dc:creator>
  <cp:lastModifiedBy>Andrei Chistiakov</cp:lastModifiedBy>
  <cp:revision>3</cp:revision>
  <dcterms:created xsi:type="dcterms:W3CDTF">2026-05-03T17:46:33Z</dcterms:created>
  <dcterms:modified xsi:type="dcterms:W3CDTF">2026-05-30T10:08:46Z</dcterms:modified>
</cp:coreProperties>
</file>