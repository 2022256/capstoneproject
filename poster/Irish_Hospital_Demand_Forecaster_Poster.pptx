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(NTPF)</c:v>
                </c:pt>
              </c:strCache>
            </c:strRef>
          </c:tx>
          <c:spPr>
            <a:ln w="25400" cap="flat">
              <a:solidFill>
                <a:srgbClr val="1A5F9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5F9E"/>
              </a:solidFill>
              <a:ln w="9525" cap="flat">
                <a:solidFill>
                  <a:srgbClr val="1A5F9E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Jul'21</c:v>
                </c:pt>
                <c:pt idx="1">
                  <c:v>Jan'22</c:v>
                </c:pt>
                <c:pt idx="2">
                  <c:v>Jul'22</c:v>
                </c:pt>
                <c:pt idx="3">
                  <c:v>Jan'23</c:v>
                </c:pt>
                <c:pt idx="4">
                  <c:v>Jul'23</c:v>
                </c:pt>
                <c:pt idx="5">
                  <c:v>Jan'24</c:v>
                </c:pt>
                <c:pt idx="6">
                  <c:v>Jul'24</c:v>
                </c:pt>
                <c:pt idx="7">
                  <c:v>Jan'25</c:v>
                </c:pt>
                <c:pt idx="8">
                  <c:v>Jul'25</c:v>
                </c:pt>
                <c:pt idx="9">
                  <c:v>Jan'26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81200</c:v>
                </c:pt>
                <c:pt idx="1">
                  <c:v>79400</c:v>
                </c:pt>
                <c:pt idx="2">
                  <c:v>82500</c:v>
                </c:pt>
                <c:pt idx="3">
                  <c:v>84200</c:v>
                </c:pt>
                <c:pt idx="4">
                  <c:v>84800</c:v>
                </c:pt>
                <c:pt idx="5">
                  <c:v>86200</c:v>
                </c:pt>
                <c:pt idx="6">
                  <c:v>88900</c:v>
                </c:pt>
                <c:pt idx="7">
                  <c:v>87800</c:v>
                </c:pt>
                <c:pt idx="8">
                  <c:v>83400</c:v>
                </c:pt>
                <c:pt idx="9">
                  <c:v>80888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8CA-4B4F-8B1C-EED76861DD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 (XGBoost)</c:v>
                </c:pt>
              </c:strCache>
            </c:strRef>
          </c:tx>
          <c:spPr>
            <a:ln w="25400" cap="flat">
              <a:solidFill>
                <a:srgbClr val="D7302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73027"/>
              </a:solidFill>
              <a:ln w="9525" cap="flat">
                <a:solidFill>
                  <a:srgbClr val="D73027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Apr'26</c:v>
                </c:pt>
                <c:pt idx="1">
                  <c:v>Jul'26</c:v>
                </c:pt>
                <c:pt idx="2">
                  <c:v>Oct'26</c:v>
                </c:pt>
                <c:pt idx="3">
                  <c:v>Jan'27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82569</c:v>
                </c:pt>
                <c:pt idx="1">
                  <c:v>79852</c:v>
                </c:pt>
                <c:pt idx="2">
                  <c:v>79477</c:v>
                </c:pt>
                <c:pt idx="3">
                  <c:v>79755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A8CA-4B4F-8B1C-EED76861DD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AFC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364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15568"/>
          </a:xfrm>
          <a:prstGeom prst="rect">
            <a:avLst/>
          </a:prstGeom>
          <a:solidFill>
            <a:srgbClr val="0D2B4E"/>
          </a:solidFill>
          <a:ln w="12700">
            <a:solidFill>
              <a:srgbClr val="0D2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Irish Hospital Demand Forecaster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to Forecast Admissions &amp; Waiting Lists · NTPF Open Data · GDPR Compliant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91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Andrei Chistiakov  |  Ivan Popov</a:t>
            </a:r>
            <a:endParaRPr lang="en-US" sz="1000" dirty="0"/>
          </a:p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 College Dublin  ·  Capstone Project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4592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765,848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national total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(IPDC 115K + OP 650K, Mar 2026)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63824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735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🛏️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30752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30752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beds per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population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63056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72784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729984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3,139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29984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MAE (patients)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available CSV subset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162288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72016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729216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729216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training data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2014–2026 (12-year series)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64592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64592" y="2176272"/>
            <a:ext cx="54864" cy="4315968"/>
          </a:xfrm>
          <a:prstGeom prst="rect">
            <a:avLst/>
          </a:prstGeom>
          <a:solidFill>
            <a:srgbClr val="1A5F9E"/>
          </a:solidFill>
          <a:ln w="12700">
            <a:solidFill>
              <a:srgbClr val="1A5F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92608" y="2651760"/>
            <a:ext cx="2615184" cy="3721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Ireland faces a structural healthcare capacity crisis: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~290 beds/100k population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(EU average: 420)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Inpatient occupancy &gt;95%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Psychiatric units at 86–89%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754,000 on waiting lists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(Dec 2025, +20% since 2022)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Sláintecare targets: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≤10 weeks outpatient wait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≤12 weeks inpatient wait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reality: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react to crises rather than plan ahead. No systematic forecasting infrastructure exists within HSE.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5193792"/>
            <a:ext cx="2596896" cy="1170432"/>
          </a:xfrm>
          <a:prstGeom prst="rect">
            <a:avLst/>
          </a:prstGeom>
          <a:solidFill>
            <a:srgbClr val="E8F4FB"/>
          </a:solidFill>
          <a:ln w="12700">
            <a:solidFill>
              <a:srgbClr val="B3D9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" y="52395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 per 1,000 population (2023)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0896" y="5486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Ireland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44752" y="5513832"/>
            <a:ext cx="514350" cy="12801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7390" y="54864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10896" y="56875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44752" y="5715000"/>
            <a:ext cx="428625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91665" y="56875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10896" y="58887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EU-15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444752" y="5916168"/>
            <a:ext cx="720090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83130" y="58887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896" y="60899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444752" y="6117336"/>
            <a:ext cx="1208823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00059" y="6071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145536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145536" y="2176272"/>
            <a:ext cx="54864" cy="43159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73552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73552" y="2679192"/>
            <a:ext cx="566928" cy="621792"/>
          </a:xfrm>
          <a:prstGeom prst="rect">
            <a:avLst/>
          </a:prstGeom>
          <a:solidFill>
            <a:srgbClr val="1A5F9E"/>
          </a:solidFill>
          <a:ln w="12700">
            <a:solidFill>
              <a:srgbClr val="1A5F9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73552" y="278892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931920" y="264718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NTPF CSVs 2014–2026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~144 months · 709K rows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+ OpenData series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557016" y="3300984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73552" y="3483864"/>
            <a:ext cx="566928" cy="6217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359359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3922776" y="3485505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removal · date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· outlier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(&gt;50K threshold)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557016" y="4105656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73552" y="4288536"/>
            <a:ext cx="56692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73552" y="439826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3913632" y="4242816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engineered features: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lags · rolling stats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· trend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557016" y="4910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73552" y="5093208"/>
            <a:ext cx="566928" cy="6217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73552" y="52029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913632" y="5038344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(primary)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CV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55264" y="5596128"/>
            <a:ext cx="2596896" cy="786384"/>
          </a:xfrm>
          <a:prstGeom prst="rect">
            <a:avLst/>
          </a:prstGeom>
          <a:solidFill>
            <a:srgbClr val="E8F4FB"/>
          </a:solidFill>
          <a:ln w="12700">
            <a:solidFill>
              <a:srgbClr val="B3D9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91840" y="563270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 Importances (XGBoost)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3291840" y="5852160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rolling_3m_mean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517136" y="5870448"/>
            <a:ext cx="926013" cy="91440"/>
          </a:xfrm>
          <a:prstGeom prst="rect">
            <a:avLst/>
          </a:prstGeom>
          <a:solidFill>
            <a:srgbClr val="1A5F9E"/>
          </a:solidFill>
          <a:ln w="12700">
            <a:solidFill>
              <a:srgbClr val="1A5F9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61437" y="5852160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5984748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517136" y="6003036"/>
            <a:ext cx="5587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91294" y="5984748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291840" y="6117336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rolling_3m_std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517136" y="6135624"/>
            <a:ext cx="42794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8218" y="6117336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3291840" y="6249924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lag_6m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517136" y="6268212"/>
            <a:ext cx="38039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3463" y="6249924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126480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6126480" y="2176272"/>
            <a:ext cx="54864" cy="43159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254496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graphicFrame>
        <p:nvGraphicFramePr>
          <p:cNvPr id="75" name="Chart 0"/>
          <p:cNvGraphicFramePr/>
          <p:nvPr/>
        </p:nvGraphicFramePr>
        <p:xfrm>
          <a:off x="6236208" y="2633472"/>
          <a:ext cx="2596896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6" name="Text 73"/>
          <p:cNvSpPr/>
          <p:nvPr/>
        </p:nvSpPr>
        <p:spPr>
          <a:xfrm>
            <a:off x="6254496" y="482803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Test — Oct 2025 to Mar 2026</a:t>
            </a:r>
            <a:endParaRPr lang="en-US" sz="9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6208" y="5065776"/>
          <a:ext cx="2450592" cy="164592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81,896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79,652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+2,244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81,939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80,041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+1,898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80,943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79,979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+964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80,888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80,578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−6,266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73,870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81,024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−7,154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 patients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8" name="Text 74"/>
          <p:cNvSpPr/>
          <p:nvPr/>
        </p:nvSpPr>
        <p:spPr>
          <a:xfrm>
            <a:off x="6236208" y="6583680"/>
            <a:ext cx="2615184" cy="274320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Feb–Mar drop driven by policy intervention (WTAP 2026) — unpredictable from historical data alone</a:t>
            </a:r>
            <a:endParaRPr lang="en-US" sz="750" dirty="0"/>
          </a:p>
        </p:txBody>
      </p:sp>
      <p:sp>
        <p:nvSpPr>
          <p:cNvPr id="79" name="Shape 75"/>
          <p:cNvSpPr/>
          <p:nvPr/>
        </p:nvSpPr>
        <p:spPr>
          <a:xfrm>
            <a:off x="9107424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0" name="Shape 76"/>
          <p:cNvSpPr/>
          <p:nvPr/>
        </p:nvSpPr>
        <p:spPr>
          <a:xfrm>
            <a:off x="9107424" y="2176272"/>
            <a:ext cx="54864" cy="43159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1" name="Text 77"/>
          <p:cNvSpPr/>
          <p:nvPr/>
        </p:nvSpPr>
        <p:spPr>
          <a:xfrm>
            <a:off x="9235440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 &amp; Full Picture</a:t>
            </a:r>
            <a:endParaRPr lang="en-US" sz="1200" dirty="0"/>
          </a:p>
        </p:txBody>
      </p:sp>
      <p:sp>
        <p:nvSpPr>
          <p:cNvPr id="82" name="Shape 78"/>
          <p:cNvSpPr/>
          <p:nvPr/>
        </p:nvSpPr>
        <p:spPr>
          <a:xfrm>
            <a:off x="9217152" y="2651760"/>
            <a:ext cx="2596896" cy="987552"/>
          </a:xfrm>
          <a:prstGeom prst="rect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9272016" y="269748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OpenData CSVs are a Partial Extract</a:t>
            </a:r>
            <a:endParaRPr lang="en-US" sz="900" dirty="0"/>
          </a:p>
        </p:txBody>
      </p:sp>
      <p:sp>
        <p:nvSpPr>
          <p:cNvPr id="84" name="Text 80"/>
          <p:cNvSpPr/>
          <p:nvPr/>
        </p:nvSpPr>
        <p:spPr>
          <a:xfrm>
            <a:off x="9308592" y="2971331"/>
            <a:ext cx="2523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NTPF OpenData CSV files used for training represent only a subset of the complete waiting list. The full NTPF Detailed Reports dashboard (ntpf.ie) shows significantly higher totals:</a:t>
            </a:r>
            <a:endParaRPr lang="en-US" sz="800" dirty="0"/>
          </a:p>
        </p:txBody>
      </p:sp>
      <p:sp>
        <p:nvSpPr>
          <p:cNvPr id="85" name="Text 81"/>
          <p:cNvSpPr/>
          <p:nvPr/>
        </p:nvSpPr>
        <p:spPr>
          <a:xfrm>
            <a:off x="9299448" y="337085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requires direct NTPF API access or manual export from the interactive dashboard.</a:t>
            </a:r>
            <a:endParaRPr lang="en-US" sz="750" dirty="0"/>
          </a:p>
        </p:txBody>
      </p:sp>
      <p:sp>
        <p:nvSpPr>
          <p:cNvPr id="86" name="Text 82"/>
          <p:cNvSpPr/>
          <p:nvPr/>
        </p:nvSpPr>
        <p:spPr>
          <a:xfrm>
            <a:off x="9235440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Subset vs Full NTPF Dashboard (Mar 2026)</a:t>
            </a:r>
            <a:endParaRPr lang="en-US" sz="900" dirty="0"/>
          </a:p>
        </p:txBody>
      </p:sp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17152" y="3968496"/>
          <a:ext cx="2688336" cy="12192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Subset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Dashboard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IPDC (Inpatient/Day Case)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~74–82K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115,216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Outpatient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CSVs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650,632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 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~80K (partial)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765,848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8" name="Text 83"/>
          <p:cNvSpPr/>
          <p:nvPr/>
        </p:nvSpPr>
        <p:spPr>
          <a:xfrm>
            <a:off x="9235440" y="50109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Proves</a:t>
            </a:r>
            <a:endParaRPr lang="en-US" sz="900" dirty="0"/>
          </a:p>
        </p:txBody>
      </p:sp>
      <p:sp>
        <p:nvSpPr>
          <p:cNvPr id="89" name="Text 84"/>
          <p:cNvSpPr/>
          <p:nvPr/>
        </p:nvSpPr>
        <p:spPr>
          <a:xfrm>
            <a:off x="9217152" y="5166360"/>
            <a:ext cx="26151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Pipeline works end-to-end on 12-year series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XGBoost achieves &lt;4% MAE on the CSV series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fully functional and deployable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Methodology scales to full data when available</a:t>
            </a:r>
            <a:endParaRPr lang="en-US" sz="800" dirty="0"/>
          </a:p>
        </p:txBody>
      </p:sp>
      <p:sp>
        <p:nvSpPr>
          <p:cNvPr id="90" name="Shape 85"/>
          <p:cNvSpPr/>
          <p:nvPr/>
        </p:nvSpPr>
        <p:spPr>
          <a:xfrm>
            <a:off x="9217152" y="5687568"/>
            <a:ext cx="2596896" cy="786384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9272016" y="573328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for Full Implementation</a:t>
            </a:r>
            <a:endParaRPr lang="en-US" sz="850" dirty="0"/>
          </a:p>
        </p:txBody>
      </p:sp>
      <p:sp>
        <p:nvSpPr>
          <p:cNvPr id="92" name="Text 87"/>
          <p:cNvSpPr/>
          <p:nvPr/>
        </p:nvSpPr>
        <p:spPr>
          <a:xfrm>
            <a:off x="9272016" y="5943600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 full data export from NTPF API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Retrain on complete IPDC + Outpatient series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Validate against 765K+ national totals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Deploy pilot with one HSE hospital group</a:t>
            </a:r>
            <a:endParaRPr lang="en-US" sz="800" dirty="0"/>
          </a:p>
        </p:txBody>
      </p:sp>
      <p:sp>
        <p:nvSpPr>
          <p:cNvPr id="94" name="Shape 89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D2B4E"/>
          </a:solidFill>
          <a:ln w="12700">
            <a:solidFill>
              <a:srgbClr val="0D2B4E"/>
            </a:solidFill>
            <a:prstDash val="solid"/>
          </a:ln>
        </p:spPr>
        <p:txBody>
          <a:bodyPr/>
          <a:lstStyle/>
          <a:p>
            <a:endParaRPr lang="en-IE" dirty="0"/>
          </a:p>
        </p:txBody>
      </p:sp>
      <p:sp>
        <p:nvSpPr>
          <p:cNvPr id="95" name="Text 90"/>
          <p:cNvSpPr/>
          <p:nvPr/>
        </p:nvSpPr>
        <p:spPr>
          <a:xfrm>
            <a:off x="182880" y="6611112"/>
            <a:ext cx="1179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D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 College </a:t>
            </a:r>
            <a:r>
              <a:rPr lang="en-US" sz="750">
                <a:solidFill>
                  <a:srgbClr val="9D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Dublin  — </a:t>
            </a:r>
            <a:r>
              <a:rPr lang="en-US" sz="750" dirty="0">
                <a:solidFill>
                  <a:srgbClr val="9D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·  Andrei Chistiakov &amp; Ivan Popov  · 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523</Words>
  <Application>Microsoft Office PowerPoint</Application>
  <PresentationFormat>Widescreen</PresentationFormat>
  <Paragraphs>133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Irish Hospital Demand Forecaster — Academic Poster</dc:title>
  <dc:subject>PptxGenJS Presentation</dc:subject>
  <dc:creator>PptxGenJS</dc:creator>
  <cp:lastModifiedBy>Andrei Chistiakov</cp:lastModifiedBy>
  <cp:revision>5</cp:revision>
  <dcterms:created xsi:type="dcterms:W3CDTF">2026-05-03T17:46:33Z</dcterms:created>
  <dcterms:modified xsi:type="dcterms:W3CDTF">2026-05-31T08:44:51Z</dcterms:modified>
</cp:coreProperties>
</file>